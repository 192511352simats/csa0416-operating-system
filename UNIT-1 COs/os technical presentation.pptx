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8765" y="1488372"/>
            <a:ext cx="105147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22A46"/>
                </a:solidFill>
                <a:latin typeface="Times New Roman"/>
              </a:defRPr>
            </a:pPr>
            <a:r>
              <a:rPr dirty="0"/>
              <a:t>Operating System for</a:t>
            </a:r>
            <a:br>
              <a:rPr dirty="0"/>
            </a:br>
            <a:r>
              <a:rPr dirty="0"/>
              <a:t>Traffic Signal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0236" y="298217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A6470"/>
                </a:solidFill>
                <a:latin typeface="Times New Roman"/>
              </a:defRPr>
            </a:pPr>
            <a:r>
              <a:rPr dirty="0"/>
              <a:t>Technical Presentation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9CE185-2BD0-5AD5-8EB9-E6D045736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4" y="70260"/>
            <a:ext cx="11921066" cy="10543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Rectangle 16"/>
          <p:cNvSpPr/>
          <p:nvPr/>
        </p:nvSpPr>
        <p:spPr>
          <a:xfrm>
            <a:off x="8243976" y="5115790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Preethi R (192511352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39714" y="3567078"/>
            <a:ext cx="62087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CSA0416-OPERATING SYSTEM</a:t>
            </a:r>
            <a:endParaRPr lang="en-IN" sz="32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22A46"/>
                </a:solidFill>
                <a:latin typeface="Times New Roman"/>
              </a:defRPr>
            </a:pPr>
            <a:r>
              <a:t>Introduction – Traffic Signal Control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A6470"/>
                </a:solidFill>
                <a:latin typeface="Times New Roman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830"/>
                </a:solidFill>
                <a:latin typeface="Times New Roman"/>
              </a:defRPr>
            </a:pPr>
            <a:r>
              <a:t>Traffic signal control is a real-time embedded application because signal changes must happen at the correct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6949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Traffic sensors continuously detect vehicles and traffic conditions.</a:t>
            </a:r>
          </a:p>
          <a:p>
            <a:pPr>
              <a:spcAft>
                <a:spcPts val="11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The controller processes sensor information and selects the required signal state.</a:t>
            </a:r>
          </a:p>
          <a:p>
            <a:pPr>
              <a:spcAft>
                <a:spcPts val="11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Red, Yellow, and Green lights must follow a predefined sequence.</a:t>
            </a:r>
          </a:p>
          <a:p>
            <a:pPr>
              <a:spcAft>
                <a:spcPts val="11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Every control action has a timing requirement.</a:t>
            </a:r>
          </a:p>
          <a:p>
            <a:pPr>
              <a:spcAft>
                <a:spcPts val="11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Missing a timing deadline can affect traffic flow and safety.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8745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A5D9B"/>
                </a:solidFill>
                <a:latin typeface="Times New Roman"/>
              </a:defRPr>
            </a:pPr>
            <a:r>
              <a:t>Basic Signal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2514600"/>
            <a:ext cx="2651760" cy="731520"/>
          </a:xfrm>
          <a:prstGeom prst="roundRect">
            <a:avLst/>
          </a:prstGeom>
          <a:solidFill>
            <a:srgbClr val="EFFDF4"/>
          </a:solidFill>
          <a:ln w="22860">
            <a:solidFill>
              <a:srgbClr val="23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22A46"/>
                </a:solidFill>
                <a:latin typeface="Times New Roman"/>
              </a:defRPr>
            </a:pPr>
            <a:r>
              <a:t>GREEN</a:t>
            </a:r>
            <a:br/>
            <a:r>
              <a:t>30 seconds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509760" y="3246120"/>
            <a:ext cx="0" cy="274320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3566160"/>
            <a:ext cx="2651760" cy="731520"/>
          </a:xfrm>
          <a:prstGeom prst="roundRect">
            <a:avLst/>
          </a:prstGeom>
          <a:solidFill>
            <a:srgbClr val="FFFBEB"/>
          </a:solidFill>
          <a:ln w="22860">
            <a:solidFill>
              <a:srgbClr val="E1A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22A46"/>
                </a:solidFill>
                <a:latin typeface="Times New Roman"/>
              </a:defRPr>
            </a:pPr>
            <a:r>
              <a:t>YELLOW</a:t>
            </a:r>
            <a:br/>
            <a:r>
              <a:t>5 seconds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09760" y="4297680"/>
            <a:ext cx="0" cy="274320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83879" y="4617720"/>
            <a:ext cx="2651760" cy="731520"/>
          </a:xfrm>
          <a:prstGeom prst="roundRect">
            <a:avLst/>
          </a:prstGeom>
          <a:solidFill>
            <a:srgbClr val="FEF2F2"/>
          </a:solidFill>
          <a:ln w="22860">
            <a:solidFill>
              <a:srgbClr val="CD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22A46"/>
                </a:solidFill>
                <a:latin typeface="Times New Roman"/>
              </a:defRPr>
            </a:pPr>
            <a:r>
              <a:t>RED</a:t>
            </a:r>
            <a:br/>
            <a:r>
              <a:t>30 seconds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22A46"/>
                </a:solidFill>
                <a:latin typeface="Times New Roman"/>
              </a:defRPr>
            </a:pPr>
            <a:r>
              <a:t>Operating System Used – 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A6470"/>
                </a:solidFill>
                <a:latin typeface="Times New Roman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830"/>
                </a:solidFill>
                <a:latin typeface="Times New Roman"/>
              </a:defRPr>
            </a:pPr>
            <a:r>
              <a:t>A Real-Time Operating System (RTOS) is designed to execute tasks and respond to events within specified time limits.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5D9B"/>
                </a:solidFill>
                <a:latin typeface="Times New Roman"/>
              </a:defRPr>
            </a:pPr>
            <a:r>
              <a:t>Why RTOS is suitable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6858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rPr dirty="0"/>
              <a:t>• Provides deterministic and predictable response.</a:t>
            </a:r>
          </a:p>
          <a:p>
            <a:pPr>
              <a:spcAft>
                <a:spcPts val="10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rPr dirty="0"/>
              <a:t>• Supports accurate timers and periodic task execution.</a:t>
            </a:r>
          </a:p>
          <a:p>
            <a:pPr>
              <a:spcAft>
                <a:spcPts val="10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rPr dirty="0"/>
              <a:t>• Uses priority-based scheduling for urgent tasks.</a:t>
            </a:r>
          </a:p>
          <a:p>
            <a:pPr>
              <a:spcAft>
                <a:spcPts val="10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rPr dirty="0"/>
              <a:t>• Responds quickly to sensor and emergency events.</a:t>
            </a:r>
          </a:p>
          <a:p>
            <a:pPr>
              <a:spcAft>
                <a:spcPts val="10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rPr dirty="0"/>
              <a:t>• Allows multiple control tasks to run efficiently.</a:t>
            </a:r>
          </a:p>
          <a:p>
            <a:pPr>
              <a:spcAft>
                <a:spcPts val="10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rPr dirty="0"/>
              <a:t>• Suitable for safety-critical embedded applications.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A5D9B"/>
                </a:solidFill>
                <a:latin typeface="Times New Roman"/>
              </a:defRPr>
            </a:pPr>
            <a: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830"/>
                </a:solidFill>
                <a:latin typeface="Times New Roman"/>
              </a:defRPr>
            </a:pPr>
            <a:r>
              <a:t>• FreeRTOS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830"/>
                </a:solidFill>
                <a:latin typeface="Times New Roman"/>
              </a:defRPr>
            </a:pPr>
            <a:r>
              <a:t>• QNX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830"/>
                </a:solidFill>
                <a:latin typeface="Times New Roman"/>
              </a:defRPr>
            </a:pPr>
            <a:r>
              <a:t>• VxWorks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830"/>
                </a:solidFill>
                <a:latin typeface="Times New Roman"/>
              </a:defRPr>
            </a:pPr>
            <a:r>
              <a:t>• Zephyr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22A46"/>
                </a:solidFill>
                <a:latin typeface="Times New Roman"/>
              </a:defRPr>
            </a:pPr>
            <a:r>
              <a:t>RTOS Structure and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A6470"/>
                </a:solidFill>
                <a:latin typeface="Times New Roman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830"/>
                </a:solidFill>
                <a:latin typeface="Times New Roman"/>
              </a:defRPr>
            </a:pPr>
            <a:r>
              <a:t>The RTOS kernel connects traffic-control software with the microcontroller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474720" cy="658368"/>
          </a:xfrm>
          <a:prstGeom prst="roundRect">
            <a:avLst/>
          </a:prstGeom>
          <a:solidFill>
            <a:srgbClr val="E8F1FA"/>
          </a:solidFill>
          <a:ln w="22860">
            <a:solidFill>
              <a:srgbClr val="2A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22A46"/>
                </a:solidFill>
                <a:latin typeface="Times New Roman"/>
              </a:defRPr>
            </a:pPr>
            <a:r>
              <a:t>Traffic Signal</a:t>
            </a:r>
            <a:br/>
            <a:r>
              <a:t>Application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395728"/>
            <a:ext cx="0" cy="301752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43400" y="2743200"/>
            <a:ext cx="347472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2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22A46"/>
                </a:solidFill>
                <a:latin typeface="Times New Roman"/>
              </a:defRPr>
            </a:pPr>
            <a:r>
              <a:t>RTOS Kernel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2103120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A46"/>
                </a:solidFill>
                <a:latin typeface="Times New Roman"/>
              </a:defRPr>
            </a:pPr>
            <a:r>
              <a:t>Scheduler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2788920"/>
            <a:ext cx="2103120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A46"/>
                </a:solidFill>
                <a:latin typeface="Times New Roman"/>
              </a:defRPr>
            </a:pPr>
            <a:r>
              <a:t>Timer 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57600"/>
            <a:ext cx="2103120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A46"/>
                </a:solidFill>
                <a:latin typeface="Times New Roman"/>
              </a:defRPr>
            </a:pPr>
            <a:r>
              <a:t>Interrupt Handler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3657600"/>
            <a:ext cx="2103120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A46"/>
                </a:solidFill>
                <a:latin typeface="Times New Roman"/>
              </a:defRPr>
            </a:pPr>
            <a:r>
              <a:t>IPC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3072384"/>
            <a:ext cx="1280160" cy="0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63840" y="3072384"/>
            <a:ext cx="1188720" cy="0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017520" y="3383280"/>
            <a:ext cx="1280160" cy="557783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63840" y="3383280"/>
            <a:ext cx="1188720" cy="557783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3401568"/>
            <a:ext cx="0" cy="1170432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749039" y="4617720"/>
            <a:ext cx="466344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100" b="1">
                <a:solidFill>
                  <a:srgbClr val="122A46"/>
                </a:solidFill>
                <a:latin typeface="Times New Roman"/>
              </a:defRPr>
            </a:pPr>
            <a:r>
              <a:t>Hardware Abstraction Layer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5239512"/>
            <a:ext cx="0" cy="292608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154680" y="5577840"/>
            <a:ext cx="585216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2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22A46"/>
                </a:solidFill>
                <a:latin typeface="Times New Roman"/>
              </a:defRPr>
            </a:pPr>
            <a:r>
              <a:t>Microcontroller + Sensors + Traffic Lights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22A46"/>
                </a:solidFill>
                <a:latin typeface="Times New Roman"/>
              </a:defRPr>
            </a:pPr>
            <a:r>
              <a:t>Main Components of 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A6470"/>
                </a:solidFill>
                <a:latin typeface="Times New Roman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830"/>
                </a:solidFill>
                <a:latin typeface="Times New Roman"/>
              </a:defRPr>
            </a:pPr>
            <a:r>
              <a:t>The RTOS provides the core services required to control the traffic signal reliably.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5D9B"/>
                </a:solidFill>
                <a:latin typeface="Times New Roman"/>
              </a:defRPr>
            </a:pPr>
            <a:r>
              <a:t>•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58568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830"/>
                </a:solidFill>
                <a:latin typeface="Times New Roman"/>
              </a:defRPr>
            </a:pPr>
            <a:r>
              <a:t>Selects the highest-priority ready task.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87451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5D9B"/>
                </a:solidFill>
                <a:latin typeface="Times New Roman"/>
              </a:defRPr>
            </a:pPr>
            <a:r>
              <a:t>• Task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399" y="2258568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830"/>
                </a:solidFill>
                <a:latin typeface="Times New Roman"/>
              </a:defRPr>
            </a:pPr>
            <a:r>
              <a:t>Creates, deletes, suspends, and resumes tasks.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5D9B"/>
                </a:solidFill>
                <a:latin typeface="Times New Roman"/>
              </a:defRPr>
            </a:pPr>
            <a:r>
              <a:t>• Timer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01568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830"/>
                </a:solidFill>
                <a:latin typeface="Times New Roman"/>
              </a:defRPr>
            </a:pPr>
            <a:r>
              <a:t>Provides accurate delays and periodic timing.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3017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5D9B"/>
                </a:solidFill>
                <a:latin typeface="Times New Roman"/>
              </a:defRPr>
            </a:pPr>
            <a:r>
              <a:t>• Interrupt Handler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399" y="3401568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830"/>
                </a:solidFill>
                <a:latin typeface="Times New Roman"/>
              </a:defRPr>
            </a:pPr>
            <a:r>
              <a:t>Responds immediately to sensor or emergency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5D9B"/>
                </a:solidFill>
                <a:latin typeface="Times New Roman"/>
              </a:defRPr>
            </a:pPr>
            <a:r>
              <a:t>• IPC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44568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830"/>
                </a:solidFill>
                <a:latin typeface="Times New Roman"/>
              </a:defRPr>
            </a:pPr>
            <a:r>
              <a:t>Allows tasks to exchange information safely.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4160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5D9B"/>
                </a:solidFill>
                <a:latin typeface="Times New Roman"/>
              </a:defRPr>
            </a:pPr>
            <a:r>
              <a:t>• Memory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399" y="4544568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830"/>
                </a:solidFill>
                <a:latin typeface="Times New Roman"/>
              </a:defRPr>
            </a:pPr>
            <a:r>
              <a:t>Allocates and manages system memory.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03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5D9B"/>
                </a:solidFill>
                <a:latin typeface="Times New Roman"/>
              </a:defRPr>
            </a:pPr>
            <a:r>
              <a:t>• Device Drivers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87568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830"/>
                </a:solidFill>
                <a:latin typeface="Times New Roman"/>
              </a:defRPr>
            </a:pPr>
            <a:r>
              <a:t>Interface sensors, LEDs, displays, and other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22A46"/>
                </a:solidFill>
                <a:latin typeface="Times New Roman"/>
              </a:defRPr>
            </a:pPr>
            <a:r>
              <a:t>Traffic Signal Tasks Managed by 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A6470"/>
                </a:solidFill>
                <a:latin typeface="Times New Roman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830"/>
                </a:solidFill>
                <a:latin typeface="Times New Roman"/>
              </a:defRPr>
            </a:pPr>
            <a:r>
              <a:t>Different tasks are executed according to their priority and timing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600200" cy="713232"/>
          </a:xfrm>
          <a:prstGeom prst="roundRect">
            <a:avLst/>
          </a:prstGeom>
          <a:solidFill>
            <a:srgbClr val="E8F1FA"/>
          </a:solidFill>
          <a:ln w="22860">
            <a:solidFill>
              <a:srgbClr val="2A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22A46"/>
                </a:solidFill>
                <a:latin typeface="Times New Roman"/>
              </a:defRPr>
            </a:pPr>
            <a:r>
              <a:t>Traffic</a:t>
            </a:r>
            <a:br/>
            <a:r>
              <a:t>Sensors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40280" y="2185416"/>
            <a:ext cx="411480" cy="0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97480" y="1828800"/>
            <a:ext cx="160020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22A46"/>
                </a:solidFill>
                <a:latin typeface="Times New Roman"/>
              </a:defRPr>
            </a:pPr>
            <a:r>
              <a:t>Sensor</a:t>
            </a:r>
            <a:br/>
            <a:r>
              <a:t>Task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97680" y="2185416"/>
            <a:ext cx="411480" cy="0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54880" y="1828800"/>
            <a:ext cx="173736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2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22A46"/>
                </a:solidFill>
                <a:latin typeface="Times New Roman"/>
              </a:defRPr>
            </a:pPr>
            <a:r>
              <a:t>RTOS</a:t>
            </a:r>
            <a:br/>
            <a:r>
              <a:t>Scheduler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92240" y="2185416"/>
            <a:ext cx="411480" cy="0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49440" y="1828800"/>
            <a:ext cx="19202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3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22A46"/>
                </a:solidFill>
                <a:latin typeface="Times New Roman"/>
              </a:defRPr>
            </a:pPr>
            <a:r>
              <a:t>Signal Control</a:t>
            </a:r>
            <a:br/>
            <a:r>
              <a:t>Task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69680" y="2185416"/>
            <a:ext cx="411480" cy="0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26880" y="1828800"/>
            <a:ext cx="1600200" cy="713232"/>
          </a:xfrm>
          <a:prstGeom prst="roundRect">
            <a:avLst/>
          </a:prstGeom>
          <a:solidFill>
            <a:srgbClr val="EFFDF4"/>
          </a:solidFill>
          <a:ln w="22860">
            <a:solidFill>
              <a:srgbClr val="23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22A46"/>
                </a:solidFill>
                <a:latin typeface="Times New Roman"/>
              </a:defRPr>
            </a:pPr>
            <a:r>
              <a:t>Traffic</a:t>
            </a:r>
            <a:br/>
            <a:r>
              <a:t>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5468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Signal Control Task – Controls Red, Yellow, and Green lights.</a:t>
            </a:r>
          </a:p>
          <a:p>
            <a:pPr>
              <a:spcAft>
                <a:spcPts val="9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Sensor Task – Detects vehicles and updates traffic information.</a:t>
            </a:r>
          </a:p>
          <a:p>
            <a:pPr>
              <a:spcAft>
                <a:spcPts val="9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Timer Task – Maintains signal durations and periodic events.</a:t>
            </a:r>
          </a:p>
          <a:p>
            <a:pPr>
              <a:spcAft>
                <a:spcPts val="9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Emergency Task – Gives immediate attention to emergency vehicles.</a:t>
            </a:r>
          </a:p>
          <a:p>
            <a:pPr>
              <a:spcAft>
                <a:spcPts val="9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Communication Task – Sends monitoring information to other systems.</a:t>
            </a:r>
          </a:p>
          <a:p>
            <a:pPr>
              <a:spcAft>
                <a:spcPts val="9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Priority scheduling ensures urgent tasks receive CPU time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22A46"/>
                </a:solidFill>
                <a:latin typeface="Times New Roman"/>
              </a:defRPr>
            </a:pPr>
            <a:r>
              <a:t>System Calls for Process / Task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A6470"/>
                </a:solidFill>
                <a:latin typeface="Times New Roman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830"/>
                </a:solidFill>
                <a:latin typeface="Times New Roman"/>
              </a:defRPr>
            </a:pPr>
            <a:r>
              <a:t>RTOS APIs allow the application to create, control, suspend, and synchronize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task_create() – Creates a new task.</a:t>
            </a:r>
          </a:p>
          <a:p>
            <a:pPr>
              <a:spcAft>
                <a:spcPts val="12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task_delete() – Deletes a task.</a:t>
            </a:r>
          </a:p>
          <a:p>
            <a:pPr>
              <a:spcAft>
                <a:spcPts val="12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task_suspend() – Temporarily suspends a task.</a:t>
            </a:r>
          </a:p>
          <a:p>
            <a:pPr>
              <a:spcAft>
                <a:spcPts val="12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task_resume() – Resumes a suspended task.</a:t>
            </a:r>
          </a:p>
          <a:p>
            <a:pPr>
              <a:spcAft>
                <a:spcPts val="12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task_delay() – Delays a task for a specified period.</a:t>
            </a:r>
          </a:p>
          <a:p>
            <a:pPr>
              <a:spcAft>
                <a:spcPts val="12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task_yield() – Gives CPU control to another ready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A5D9B"/>
                </a:solidFill>
                <a:latin typeface="Times New Roman"/>
              </a:defRPr>
            </a:pPr>
            <a:r>
              <a:t>Example Task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423160"/>
            <a:ext cx="2560320" cy="594360"/>
          </a:xfrm>
          <a:prstGeom prst="roundRect">
            <a:avLst/>
          </a:prstGeom>
          <a:solidFill>
            <a:srgbClr val="E8F1FA"/>
          </a:solidFill>
          <a:ln w="22860">
            <a:solidFill>
              <a:srgbClr val="2A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22A46"/>
                </a:solidFill>
                <a:latin typeface="Times New Roman"/>
              </a:defRPr>
            </a:pPr>
            <a:r>
              <a:t>Sensor Task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509760" y="3017520"/>
            <a:ext cx="0" cy="320040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0" y="3383280"/>
            <a:ext cx="2560320" cy="594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22A46"/>
                </a:solidFill>
                <a:latin typeface="Times New Roman"/>
              </a:defRPr>
            </a:pPr>
            <a:r>
              <a:t>Detect Vehicle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09760" y="3977639"/>
            <a:ext cx="0" cy="320041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55279" y="4343400"/>
            <a:ext cx="3108960" cy="594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3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22A46"/>
                </a:solidFill>
                <a:latin typeface="Times New Roman"/>
              </a:defRPr>
            </a:pPr>
            <a:r>
              <a:t>Signal Control Task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09760" y="4937760"/>
            <a:ext cx="0" cy="320040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0" y="5303520"/>
            <a:ext cx="2560320" cy="594360"/>
          </a:xfrm>
          <a:prstGeom prst="roundRect">
            <a:avLst/>
          </a:prstGeom>
          <a:solidFill>
            <a:srgbClr val="EFFDF4"/>
          </a:solidFill>
          <a:ln w="22860">
            <a:solidFill>
              <a:srgbClr val="23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22A46"/>
                </a:solidFill>
                <a:latin typeface="Times New Roman"/>
              </a:defRPr>
            </a:pPr>
            <a:r>
              <a:t>Change Signal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22A46"/>
                </a:solidFill>
                <a:latin typeface="Times New Roman"/>
              </a:defRPr>
            </a:pPr>
            <a:r>
              <a:t>System Calls for Timing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A6470"/>
                </a:solidFill>
                <a:latin typeface="Times New Roman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830"/>
                </a:solidFill>
                <a:latin typeface="Times New Roman"/>
              </a:defRPr>
            </a:pPr>
            <a:r>
              <a:t>Precise timing is essential because each signal state must remain active for a defined duration.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6309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timer_create() – Creates a timer for a required event.</a:t>
            </a:r>
          </a:p>
          <a:p>
            <a:pPr>
              <a:spcAft>
                <a:spcPts val="11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timer_start() – Starts the timing operation.</a:t>
            </a:r>
          </a:p>
          <a:p>
            <a:pPr>
              <a:spcAft>
                <a:spcPts val="11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timer_stop() – Stops an active timer.</a:t>
            </a:r>
          </a:p>
          <a:p>
            <a:pPr>
              <a:spcAft>
                <a:spcPts val="11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task_delay() – Delays task execution for a specified period.</a:t>
            </a:r>
          </a:p>
          <a:p>
            <a:pPr>
              <a:spcAft>
                <a:spcPts val="11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get_time() – Reads the current system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A5D9B"/>
                </a:solidFill>
                <a:latin typeface="Times New Roman"/>
              </a:defRPr>
            </a:pPr>
            <a:r>
              <a:t>Signal Timing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560320"/>
            <a:ext cx="1234440" cy="914400"/>
          </a:xfrm>
          <a:prstGeom prst="roundRect">
            <a:avLst/>
          </a:prstGeom>
          <a:solidFill>
            <a:srgbClr val="EFFDF4"/>
          </a:solidFill>
          <a:ln w="22860">
            <a:solidFill>
              <a:srgbClr val="23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22A46"/>
                </a:solidFill>
                <a:latin typeface="Times New Roman"/>
              </a:defRPr>
            </a:pPr>
            <a:r>
              <a:t>GREEN</a:t>
            </a:r>
            <a:br/>
            <a:r>
              <a:t>30 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0" y="3017520"/>
            <a:ext cx="365760" cy="0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98280" y="2560320"/>
            <a:ext cx="1234440" cy="914400"/>
          </a:xfrm>
          <a:prstGeom prst="roundRect">
            <a:avLst/>
          </a:prstGeom>
          <a:solidFill>
            <a:srgbClr val="FFFBEB"/>
          </a:solidFill>
          <a:ln w="22860">
            <a:solidFill>
              <a:srgbClr val="E1A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22A46"/>
                </a:solidFill>
                <a:latin typeface="Times New Roman"/>
              </a:defRPr>
            </a:pPr>
            <a:r>
              <a:t>YELLOW</a:t>
            </a:r>
            <a:br/>
            <a:r>
              <a:t>5 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332720" y="3017520"/>
            <a:ext cx="365760" cy="0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744200" y="2560320"/>
            <a:ext cx="1234440" cy="914400"/>
          </a:xfrm>
          <a:prstGeom prst="roundRect">
            <a:avLst/>
          </a:prstGeom>
          <a:solidFill>
            <a:srgbClr val="FEF2F2"/>
          </a:solidFill>
          <a:ln w="22860">
            <a:solidFill>
              <a:srgbClr val="CD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22A46"/>
                </a:solidFill>
                <a:latin typeface="Times New Roman"/>
              </a:defRPr>
            </a:pPr>
            <a:r>
              <a:t>RED</a:t>
            </a:r>
            <a:br/>
            <a:r>
              <a:t>30 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8046720" y="3474720"/>
            <a:ext cx="3310128" cy="777240"/>
          </a:xfrm>
          <a:prstGeom prst="line">
            <a:avLst/>
          </a:prstGeom>
          <a:ln w="27940">
            <a:solidFill>
              <a:srgbClr val="2A5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823960" y="41148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22A46"/>
                </a:solidFill>
                <a:latin typeface="Times New Roman"/>
              </a:defRPr>
            </a:pPr>
            <a:r>
              <a:t>Repeat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892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32830"/>
                </a:solidFill>
                <a:latin typeface="Times New Roman"/>
              </a:defRPr>
            </a:pPr>
            <a:r>
              <a:t>RTOS timers ensure that signal transitions occur predictably and consistently.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22A46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A6470"/>
                </a:solidFill>
                <a:latin typeface="Times New Roman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Traffic signal control is a real-time embedded application.</a:t>
            </a:r>
          </a:p>
          <a:p>
            <a:pPr>
              <a:spcAft>
                <a:spcPts val="13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RTOS provides predictable response, accurate timing, and priority-based scheduling.</a:t>
            </a:r>
          </a:p>
          <a:p>
            <a:pPr>
              <a:spcAft>
                <a:spcPts val="13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The RTOS kernel manages tasks, timers, interrupts, communication, and hardware access.</a:t>
            </a:r>
          </a:p>
          <a:p>
            <a:pPr>
              <a:spcAft>
                <a:spcPts val="13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System calls provide control over task execution and timing.</a:t>
            </a:r>
          </a:p>
          <a:p>
            <a:pPr>
              <a:spcAft>
                <a:spcPts val="1300"/>
              </a:spcAft>
              <a:defRPr sz="2400">
                <a:solidFill>
                  <a:srgbClr val="232830"/>
                </a:solidFill>
                <a:latin typeface="Times New Roman"/>
              </a:defRPr>
            </a:pPr>
            <a:r>
              <a:t>• Therefore, RTOS offers a reliable and efficient solution for real-time traffic signal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9963" y="2708694"/>
            <a:ext cx="4968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067" y="-76207"/>
            <a:ext cx="12278408" cy="15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835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675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2026-10-07T14:43:26Z</dcterms:modified>
  <cp:category/>
</cp:coreProperties>
</file>